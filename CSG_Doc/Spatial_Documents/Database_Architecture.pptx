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8" r:id="rId3"/>
    <p:sldId id="260" r:id="rId4"/>
    <p:sldId id="256" r:id="rId5"/>
    <p:sldId id="257" r:id="rId6"/>
    <p:sldId id="262" r:id="rId7"/>
    <p:sldId id="263"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C31C13AE-127D-4CCE-9CCB-1BE861DC52A8}" type="datetimeFigureOut">
              <a:rPr lang="en-ZA" smtClean="0"/>
              <a:t>2018/10/11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2070315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C31C13AE-127D-4CCE-9CCB-1BE861DC52A8}" type="datetimeFigureOut">
              <a:rPr lang="en-ZA" smtClean="0"/>
              <a:t>2018/10/11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347601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31C13AE-127D-4CCE-9CCB-1BE861DC52A8}" type="datetimeFigureOut">
              <a:rPr lang="en-ZA" smtClean="0"/>
              <a:t>2018/10/11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2552125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C31C13AE-127D-4CCE-9CCB-1BE861DC52A8}" type="datetimeFigureOut">
              <a:rPr lang="en-ZA" smtClean="0"/>
              <a:t>2018/10/11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3100980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C31C13AE-127D-4CCE-9CCB-1BE861DC52A8}" type="datetimeFigureOut">
              <a:rPr lang="en-ZA" smtClean="0"/>
              <a:t>2018/10/11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787081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C31C13AE-127D-4CCE-9CCB-1BE861DC52A8}" type="datetimeFigureOut">
              <a:rPr lang="en-ZA" smtClean="0"/>
              <a:t>2018/10/11</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769675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1C13AE-127D-4CCE-9CCB-1BE861DC52A8}" type="datetimeFigureOut">
              <a:rPr lang="en-ZA" smtClean="0"/>
              <a:t>2018/10/11</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4095880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1C13AE-127D-4CCE-9CCB-1BE861DC52A8}" type="datetimeFigureOut">
              <a:rPr lang="en-ZA" smtClean="0"/>
              <a:t>2018/10/11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374479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1C13AE-127D-4CCE-9CCB-1BE861DC52A8}" type="datetimeFigureOut">
              <a:rPr lang="en-ZA" smtClean="0"/>
              <a:t>2018/10/11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282226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C31C13AE-127D-4CCE-9CCB-1BE861DC52A8}" type="datetimeFigureOut">
              <a:rPr lang="en-ZA" smtClean="0"/>
              <a:t>2018/10/11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1055533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C31C13AE-127D-4CCE-9CCB-1BE861DC52A8}" type="datetimeFigureOut">
              <a:rPr lang="en-ZA" smtClean="0"/>
              <a:t>2018/10/11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8002D30-C880-44EC-A366-B4C514AD68C1}" type="slidenum">
              <a:rPr lang="en-ZA" smtClean="0"/>
              <a:t>‹#›</a:t>
            </a:fld>
            <a:endParaRPr lang="en-ZA"/>
          </a:p>
        </p:txBody>
      </p:sp>
    </p:spTree>
    <p:extLst>
      <p:ext uri="{BB962C8B-B14F-4D97-AF65-F5344CB8AC3E}">
        <p14:creationId xmlns:p14="http://schemas.microsoft.com/office/powerpoint/2010/main" val="1732472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1C13AE-127D-4CCE-9CCB-1BE861DC52A8}" type="datetimeFigureOut">
              <a:rPr lang="en-ZA" smtClean="0"/>
              <a:t>2018/10/11</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002D30-C880-44EC-A366-B4C514AD68C1}" type="slidenum">
              <a:rPr lang="en-ZA" smtClean="0"/>
              <a:t>‹#›</a:t>
            </a:fld>
            <a:endParaRPr lang="en-ZA"/>
          </a:p>
        </p:txBody>
      </p:sp>
    </p:spTree>
    <p:extLst>
      <p:ext uri="{BB962C8B-B14F-4D97-AF65-F5344CB8AC3E}">
        <p14:creationId xmlns:p14="http://schemas.microsoft.com/office/powerpoint/2010/main" val="4156081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hyperlink" Target="https://www.jscape.com/blog/active-active-vs-active-passive-high-availability-cluster"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package" Target="../embeddings/Microsoft_Excel_Worksheet2.xlsx"/><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10" Type="http://schemas.openxmlformats.org/officeDocument/2006/relationships/image" Target="../media/image2.gif"/><Relationship Id="rId4" Type="http://schemas.openxmlformats.org/officeDocument/2006/relationships/package" Target="../embeddings/Microsoft_Word_Document1.docx"/><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package" Target="../embeddings/Microsoft_Word_Document4.docx"/><Relationship Id="rId3" Type="http://schemas.openxmlformats.org/officeDocument/2006/relationships/oleObject" Target="../embeddings/oleObject3.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png"/><Relationship Id="rId5" Type="http://schemas.openxmlformats.org/officeDocument/2006/relationships/image" Target="../media/image9.wmf"/><Relationship Id="rId10" Type="http://schemas.openxmlformats.org/officeDocument/2006/relationships/image" Target="../media/image2.gif"/><Relationship Id="rId4" Type="http://schemas.openxmlformats.org/officeDocument/2006/relationships/package" Target="../embeddings/Microsoft_Word_Document3.docx"/><Relationship Id="rId9"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gif"/><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24000" y="1122363"/>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ZA" b="1" dirty="0" smtClean="0">
              <a:solidFill>
                <a:srgbClr val="002060"/>
              </a:solidFill>
              <a:effectLst>
                <a:outerShdw blurRad="38100" dist="38100" dir="2700000" algn="tl">
                  <a:srgbClr val="000000">
                    <a:alpha val="43137"/>
                  </a:srgbClr>
                </a:outerShdw>
              </a:effectLst>
            </a:endParaRPr>
          </a:p>
          <a:p>
            <a:pPr algn="ctr"/>
            <a:r>
              <a:rPr lang="en-ZA" b="1" dirty="0" smtClean="0">
                <a:solidFill>
                  <a:srgbClr val="002060"/>
                </a:solidFill>
                <a:effectLst>
                  <a:outerShdw blurRad="38100" dist="38100" dir="2700000" algn="tl">
                    <a:srgbClr val="000000">
                      <a:alpha val="43137"/>
                    </a:srgbClr>
                  </a:outerShdw>
                </a:effectLst>
              </a:rPr>
              <a:t>Database Architecture</a:t>
            </a:r>
            <a:endParaRPr lang="en-ZA" b="1" dirty="0">
              <a:solidFill>
                <a:srgbClr val="002060"/>
              </a:solidFill>
              <a:effectLst>
                <a:outerShdw blurRad="38100" dist="38100" dir="2700000" algn="tl">
                  <a:srgbClr val="000000">
                    <a:alpha val="43137"/>
                  </a:srgbClr>
                </a:outerShdw>
              </a:effectLst>
            </a:endParaRPr>
          </a:p>
        </p:txBody>
      </p:sp>
      <p:sp>
        <p:nvSpPr>
          <p:cNvPr id="3" name="Subtitle 2"/>
          <p:cNvSpPr txBox="1">
            <a:spLocks/>
          </p:cNvSpPr>
          <p:nvPr/>
        </p:nvSpPr>
        <p:spPr>
          <a:xfrm>
            <a:off x="1524000" y="3602038"/>
            <a:ext cx="9144000" cy="1655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ZA" b="1" dirty="0" smtClean="0">
                <a:solidFill>
                  <a:schemeClr val="tx1">
                    <a:lumMod val="65000"/>
                    <a:lumOff val="35000"/>
                  </a:schemeClr>
                </a:solidFill>
                <a:effectLst>
                  <a:outerShdw blurRad="38100" dist="38100" dir="2700000" algn="tl">
                    <a:srgbClr val="000000">
                      <a:alpha val="43137"/>
                    </a:srgbClr>
                  </a:outerShdw>
                </a:effectLst>
              </a:rPr>
              <a:t>11</a:t>
            </a:r>
            <a:r>
              <a:rPr lang="en-ZA" b="1" baseline="30000" dirty="0" smtClean="0">
                <a:solidFill>
                  <a:schemeClr val="tx1">
                    <a:lumMod val="65000"/>
                    <a:lumOff val="35000"/>
                  </a:schemeClr>
                </a:solidFill>
                <a:effectLst>
                  <a:outerShdw blurRad="38100" dist="38100" dir="2700000" algn="tl">
                    <a:srgbClr val="000000">
                      <a:alpha val="43137"/>
                    </a:srgbClr>
                  </a:outerShdw>
                </a:effectLst>
              </a:rPr>
              <a:t>th</a:t>
            </a:r>
            <a:r>
              <a:rPr lang="en-ZA" b="1" dirty="0" smtClean="0">
                <a:solidFill>
                  <a:schemeClr val="tx1">
                    <a:lumMod val="65000"/>
                    <a:lumOff val="35000"/>
                  </a:schemeClr>
                </a:solidFill>
                <a:effectLst>
                  <a:outerShdw blurRad="38100" dist="38100" dir="2700000" algn="tl">
                    <a:srgbClr val="000000">
                      <a:alpha val="43137"/>
                    </a:srgbClr>
                  </a:outerShdw>
                </a:effectLst>
              </a:rPr>
              <a:t> October 2018</a:t>
            </a:r>
            <a:endParaRPr lang="en-ZA" b="1" dirty="0">
              <a:solidFill>
                <a:schemeClr val="tx1">
                  <a:lumMod val="65000"/>
                  <a:lumOff val="35000"/>
                </a:schemeClr>
              </a:solidFill>
              <a:effectLst>
                <a:outerShdw blurRad="38100" dist="38100" dir="2700000" algn="tl">
                  <a:srgbClr val="000000">
                    <a:alpha val="43137"/>
                  </a:srgbClr>
                </a:outerShdw>
              </a:effectLst>
            </a:endParaRPr>
          </a:p>
        </p:txBody>
      </p:sp>
      <p:pic>
        <p:nvPicPr>
          <p:cNvPr id="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3590" y="125469"/>
            <a:ext cx="3015700" cy="130408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3866132" y="5949783"/>
            <a:ext cx="3825026" cy="843566"/>
          </a:xfrm>
          <a:prstGeom prst="rect">
            <a:avLst/>
          </a:prstGeom>
        </p:spPr>
      </p:pic>
      <p:sp>
        <p:nvSpPr>
          <p:cNvPr id="6" name="Slide Number Placeholder 5"/>
          <p:cNvSpPr>
            <a:spLocks noGrp="1"/>
          </p:cNvSpPr>
          <p:nvPr>
            <p:ph type="sldNum" sz="quarter" idx="12"/>
          </p:nvPr>
        </p:nvSpPr>
        <p:spPr>
          <a:xfrm>
            <a:off x="8610600" y="6356350"/>
            <a:ext cx="2743200" cy="365125"/>
          </a:xfrm>
        </p:spPr>
        <p:txBody>
          <a:bodyPr/>
          <a:lstStyle/>
          <a:p>
            <a:fld id="{70739406-B01A-4FB1-972E-3943F7F16DA4}" type="slidenum">
              <a:rPr lang="en-ZA" smtClean="0"/>
              <a:t>1</a:t>
            </a:fld>
            <a:endParaRPr lang="en-ZA"/>
          </a:p>
        </p:txBody>
      </p:sp>
    </p:spTree>
    <p:extLst>
      <p:ext uri="{BB962C8B-B14F-4D97-AF65-F5344CB8AC3E}">
        <p14:creationId xmlns:p14="http://schemas.microsoft.com/office/powerpoint/2010/main" val="4162753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661451" y="0"/>
            <a:ext cx="4869097" cy="6858000"/>
          </a:xfrm>
          <a:prstGeom prst="rect">
            <a:avLst/>
          </a:prstGeom>
        </p:spPr>
      </p:pic>
      <p:pic>
        <p:nvPicPr>
          <p:cNvPr id="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431733" cy="10515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p:nvPr/>
        </p:nvPicPr>
        <p:blipFill>
          <a:blip r:embed="rId4" cstate="print">
            <a:extLst>
              <a:ext uri="{28A0092B-C50C-407E-A947-70E740481C1C}">
                <a14:useLocalDpi xmlns:a14="http://schemas.microsoft.com/office/drawing/2010/main" val="0"/>
              </a:ext>
            </a:extLst>
          </a:blip>
          <a:stretch>
            <a:fillRect/>
          </a:stretch>
        </p:blipFill>
        <p:spPr>
          <a:xfrm>
            <a:off x="9884664" y="67421"/>
            <a:ext cx="2307336" cy="618379"/>
          </a:xfrm>
          <a:prstGeom prst="rect">
            <a:avLst/>
          </a:prstGeom>
        </p:spPr>
      </p:pic>
      <p:sp>
        <p:nvSpPr>
          <p:cNvPr id="8" name="TextBox 7"/>
          <p:cNvSpPr txBox="1"/>
          <p:nvPr/>
        </p:nvSpPr>
        <p:spPr>
          <a:xfrm>
            <a:off x="5916168" y="0"/>
            <a:ext cx="2706624" cy="369332"/>
          </a:xfrm>
          <a:prstGeom prst="rect">
            <a:avLst/>
          </a:prstGeom>
          <a:noFill/>
        </p:spPr>
        <p:txBody>
          <a:bodyPr wrap="square" rtlCol="0">
            <a:spAutoFit/>
          </a:bodyPr>
          <a:lstStyle/>
          <a:p>
            <a:pPr algn="ctr"/>
            <a:r>
              <a:rPr lang="en-ZA" b="1" dirty="0" smtClean="0">
                <a:solidFill>
                  <a:schemeClr val="accent5"/>
                </a:solidFill>
              </a:rPr>
              <a:t>Database Architecture</a:t>
            </a:r>
            <a:endParaRPr lang="en-ZA" b="1" dirty="0">
              <a:solidFill>
                <a:schemeClr val="accent5"/>
              </a:solidFill>
            </a:endParaRPr>
          </a:p>
        </p:txBody>
      </p:sp>
    </p:spTree>
    <p:extLst>
      <p:ext uri="{BB962C8B-B14F-4D97-AF65-F5344CB8AC3E}">
        <p14:creationId xmlns:p14="http://schemas.microsoft.com/office/powerpoint/2010/main" val="30512993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060" y="1489096"/>
            <a:ext cx="5848823" cy="3353430"/>
          </a:xfrm>
          <a:prstGeom prst="rect">
            <a:avLst/>
          </a:prstGeom>
        </p:spPr>
      </p:pic>
      <p:pic>
        <p:nvPicPr>
          <p:cNvPr id="3" name="Picture 2"/>
          <p:cNvPicPr>
            <a:picLocks noChangeAspect="1"/>
          </p:cNvPicPr>
          <p:nvPr/>
        </p:nvPicPr>
        <p:blipFill>
          <a:blip r:embed="rId3"/>
          <a:stretch>
            <a:fillRect/>
          </a:stretch>
        </p:blipFill>
        <p:spPr>
          <a:xfrm>
            <a:off x="6075363" y="1525673"/>
            <a:ext cx="6037749" cy="3336174"/>
          </a:xfrm>
          <a:prstGeom prst="rect">
            <a:avLst/>
          </a:prstGeom>
        </p:spPr>
      </p:pic>
      <p:sp>
        <p:nvSpPr>
          <p:cNvPr id="4" name="Rectangle 3"/>
          <p:cNvSpPr/>
          <p:nvPr/>
        </p:nvSpPr>
        <p:spPr>
          <a:xfrm>
            <a:off x="2560514" y="322655"/>
            <a:ext cx="7195368" cy="461665"/>
          </a:xfrm>
          <a:prstGeom prst="rect">
            <a:avLst/>
          </a:prstGeom>
        </p:spPr>
        <p:txBody>
          <a:bodyPr wrap="none">
            <a:spAutoFit/>
          </a:bodyPr>
          <a:lstStyle/>
          <a:p>
            <a:r>
              <a:rPr lang="en-ZA" sz="2400" b="1" dirty="0" smtClean="0">
                <a:hlinkClick r:id="rId4"/>
              </a:rPr>
              <a:t>Active-Active vs Active-Passive High Availability Cluster</a:t>
            </a:r>
            <a:endParaRPr lang="en-ZA" sz="2400" b="1" dirty="0"/>
          </a:p>
        </p:txBody>
      </p:sp>
      <p:sp>
        <p:nvSpPr>
          <p:cNvPr id="5" name="TextBox 4"/>
          <p:cNvSpPr txBox="1"/>
          <p:nvPr/>
        </p:nvSpPr>
        <p:spPr>
          <a:xfrm>
            <a:off x="8869680" y="2898648"/>
            <a:ext cx="1508760" cy="369332"/>
          </a:xfrm>
          <a:prstGeom prst="rect">
            <a:avLst/>
          </a:prstGeom>
          <a:noFill/>
        </p:spPr>
        <p:txBody>
          <a:bodyPr wrap="square" rtlCol="0">
            <a:spAutoFit/>
          </a:bodyPr>
          <a:lstStyle/>
          <a:p>
            <a:r>
              <a:rPr lang="en-ZA" dirty="0" smtClean="0"/>
              <a:t>Primary Node</a:t>
            </a:r>
            <a:endParaRPr lang="en-ZA" dirty="0"/>
          </a:p>
        </p:txBody>
      </p:sp>
      <p:sp>
        <p:nvSpPr>
          <p:cNvPr id="6" name="TextBox 5"/>
          <p:cNvSpPr txBox="1"/>
          <p:nvPr/>
        </p:nvSpPr>
        <p:spPr>
          <a:xfrm>
            <a:off x="10514920" y="2898648"/>
            <a:ext cx="1518584" cy="369332"/>
          </a:xfrm>
          <a:prstGeom prst="rect">
            <a:avLst/>
          </a:prstGeom>
          <a:noFill/>
        </p:spPr>
        <p:txBody>
          <a:bodyPr wrap="square" rtlCol="0">
            <a:spAutoFit/>
          </a:bodyPr>
          <a:lstStyle/>
          <a:p>
            <a:r>
              <a:rPr lang="en-ZA" dirty="0" smtClean="0"/>
              <a:t>Failover Node</a:t>
            </a:r>
            <a:endParaRPr lang="en-ZA" dirty="0"/>
          </a:p>
        </p:txBody>
      </p:sp>
      <p:pic>
        <p:nvPicPr>
          <p:cNvPr id="8"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431733" cy="10515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p:nvPr/>
        </p:nvPicPr>
        <p:blipFill>
          <a:blip r:embed="rId6" cstate="print">
            <a:extLst>
              <a:ext uri="{28A0092B-C50C-407E-A947-70E740481C1C}">
                <a14:useLocalDpi xmlns:a14="http://schemas.microsoft.com/office/drawing/2010/main" val="0"/>
              </a:ext>
            </a:extLst>
          </a:blip>
          <a:stretch>
            <a:fillRect/>
          </a:stretch>
        </p:blipFill>
        <p:spPr>
          <a:xfrm>
            <a:off x="9884664" y="67421"/>
            <a:ext cx="2307336" cy="618379"/>
          </a:xfrm>
          <a:prstGeom prst="rect">
            <a:avLst/>
          </a:prstGeom>
        </p:spPr>
      </p:pic>
    </p:spTree>
    <p:extLst>
      <p:ext uri="{BB962C8B-B14F-4D97-AF65-F5344CB8AC3E}">
        <p14:creationId xmlns:p14="http://schemas.microsoft.com/office/powerpoint/2010/main" val="23487210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35426" y="0"/>
            <a:ext cx="5321147" cy="6858000"/>
          </a:xfrm>
          <a:prstGeom prst="rect">
            <a:avLst/>
          </a:prstGeom>
        </p:spPr>
      </p:pic>
      <p:sp>
        <p:nvSpPr>
          <p:cNvPr id="4" name="TextBox 3"/>
          <p:cNvSpPr txBox="1"/>
          <p:nvPr/>
        </p:nvSpPr>
        <p:spPr>
          <a:xfrm>
            <a:off x="6784848" y="73152"/>
            <a:ext cx="2816352" cy="369332"/>
          </a:xfrm>
          <a:prstGeom prst="rect">
            <a:avLst/>
          </a:prstGeom>
          <a:noFill/>
        </p:spPr>
        <p:txBody>
          <a:bodyPr wrap="square" rtlCol="0">
            <a:spAutoFit/>
          </a:bodyPr>
          <a:lstStyle/>
          <a:p>
            <a:r>
              <a:rPr lang="en-ZA" b="1" dirty="0" smtClean="0">
                <a:solidFill>
                  <a:schemeClr val="accent5"/>
                </a:solidFill>
              </a:rPr>
              <a:t>Network Topology</a:t>
            </a:r>
            <a:endParaRPr lang="en-ZA" b="1" dirty="0">
              <a:solidFill>
                <a:schemeClr val="accent5"/>
              </a:solidFill>
            </a:endParaRPr>
          </a:p>
        </p:txBody>
      </p:sp>
      <p:pic>
        <p:nvPicPr>
          <p:cNvPr id="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431733" cy="105156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p:nvPr/>
        </p:nvPicPr>
        <p:blipFill>
          <a:blip r:embed="rId4" cstate="print">
            <a:extLst>
              <a:ext uri="{28A0092B-C50C-407E-A947-70E740481C1C}">
                <a14:useLocalDpi xmlns:a14="http://schemas.microsoft.com/office/drawing/2010/main" val="0"/>
              </a:ext>
            </a:extLst>
          </a:blip>
          <a:stretch>
            <a:fillRect/>
          </a:stretch>
        </p:blipFill>
        <p:spPr>
          <a:xfrm>
            <a:off x="9884664" y="67421"/>
            <a:ext cx="2307336" cy="618379"/>
          </a:xfrm>
          <a:prstGeom prst="rect">
            <a:avLst/>
          </a:prstGeom>
        </p:spPr>
      </p:pic>
    </p:spTree>
    <p:extLst>
      <p:ext uri="{BB962C8B-B14F-4D97-AF65-F5344CB8AC3E}">
        <p14:creationId xmlns:p14="http://schemas.microsoft.com/office/powerpoint/2010/main" val="22518351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9807" y="1582368"/>
            <a:ext cx="11214339" cy="4446602"/>
          </a:xfrm>
          <a:prstGeom prst="rect">
            <a:avLst/>
          </a:prstGeom>
        </p:spPr>
        <p:txBody>
          <a:bodyPr wrap="square">
            <a:spAutoFit/>
          </a:bodyPr>
          <a:lstStyle/>
          <a:p>
            <a:pPr algn="just">
              <a:lnSpc>
                <a:spcPct val="107000"/>
              </a:lnSpc>
              <a:spcAft>
                <a:spcPts val="800"/>
              </a:spcAft>
            </a:pPr>
            <a:r>
              <a:rPr lang="en-ZA" dirty="0" smtClean="0">
                <a:effectLst/>
                <a:latin typeface="Calibri" panose="020F0502020204030204" pitchFamily="34" charset="0"/>
                <a:ea typeface="Times New Roman" panose="02020603050405020304" pitchFamily="18" charset="0"/>
                <a:cs typeface="Arial" panose="020B0604020202020204" pitchFamily="34" charset="0"/>
              </a:rPr>
              <a:t>The network topology used in this reference environment consists of two public switches using link aggregation to connect the two switches together (Public Switch A and Public Switch B), creating a single logical switch. A similar link aggregation is done for private switches (Private Switch A and Private Switch B), creating a single logical switch. Ethernet device ens10f0on the server connects to Public Switch A, while Ethernet device ens10f1on the server connects to Public Switch B. Ethernet devices ens10f0and ens10f1are bonded together as a bond device, bond0, providing high availability for the public network traffic. Ethernet device ens10f2on each server connects to Private Switch A, while Ethernet device ens10f3on each server connects to Private Switch B. Ethernet devices ens10f2and ens10f3 take advantage of Oracle's Highly Available Internet Protocol (HAIP) for Oracle's private interconnect. HAIP can load balance Ethernet traffic for up to for Ethernet devices. Due to the use of Oracle's HAIP, no bond device is created for private Ethernet devices ens10f2 and ens10f3 on each node within the Oracle RAC Database cluster.</a:t>
            </a:r>
            <a:endParaRPr lang="en-ZA" dirty="0" smtClean="0">
              <a:latin typeface="Calibri" panose="020F0502020204030204" pitchFamily="34" charset="0"/>
              <a:ea typeface="Times New Roman" panose="02020603050405020304" pitchFamily="18" charset="0"/>
              <a:cs typeface="Arial" panose="020B0604020202020204" pitchFamily="34" charset="0"/>
            </a:endParaRPr>
          </a:p>
          <a:p>
            <a:pPr algn="just">
              <a:lnSpc>
                <a:spcPct val="107000"/>
              </a:lnSpc>
              <a:spcAft>
                <a:spcPts val="800"/>
              </a:spcAft>
            </a:pPr>
            <a:r>
              <a:rPr lang="en-ZA" dirty="0" smtClean="0">
                <a:latin typeface="Calibri" panose="020F0502020204030204" pitchFamily="34" charset="0"/>
                <a:ea typeface="Times New Roman" panose="02020603050405020304" pitchFamily="18" charset="0"/>
                <a:cs typeface="Arial" panose="020B0604020202020204" pitchFamily="34" charset="0"/>
              </a:rPr>
              <a:t>The </a:t>
            </a:r>
            <a:r>
              <a:rPr lang="en-ZA" b="1" dirty="0"/>
              <a:t>Host Bus Adapter </a:t>
            </a:r>
            <a:r>
              <a:rPr lang="en-ZA" dirty="0" smtClean="0">
                <a:latin typeface="Calibri" panose="020F0502020204030204" pitchFamily="34" charset="0"/>
                <a:ea typeface="Times New Roman" panose="02020603050405020304" pitchFamily="18" charset="0"/>
                <a:cs typeface="Arial" panose="020B0604020202020204" pitchFamily="34" charset="0"/>
              </a:rPr>
              <a:t>HBA</a:t>
            </a:r>
            <a:r>
              <a:rPr lang="en-ZA" dirty="0">
                <a:latin typeface="Calibri" panose="020F0502020204030204" pitchFamily="34" charset="0"/>
                <a:ea typeface="Times New Roman" panose="02020603050405020304" pitchFamily="18" charset="0"/>
                <a:cs typeface="Arial" panose="020B0604020202020204" pitchFamily="34" charset="0"/>
              </a:rPr>
              <a:t>, also known as a host I/O controller (previously called a SCSI Card), is one of the critical components that needs protection. The HBA is usually a SCSI-2 adapter that plugs into a host and lets the host communicate with a device or a storage system</a:t>
            </a:r>
            <a:r>
              <a:rPr lang="en-ZA" dirty="0" smtClean="0">
                <a:latin typeface="Calibri" panose="020F0502020204030204" pitchFamily="34" charset="0"/>
                <a:ea typeface="Times New Roman" panose="02020603050405020304" pitchFamily="18" charset="0"/>
                <a:cs typeface="Arial" panose="020B0604020202020204" pitchFamily="34" charset="0"/>
              </a:rPr>
              <a:t>.</a:t>
            </a:r>
          </a:p>
          <a:p>
            <a:pPr algn="just">
              <a:lnSpc>
                <a:spcPct val="107000"/>
              </a:lnSpc>
              <a:spcAft>
                <a:spcPts val="800"/>
              </a:spcAft>
            </a:pPr>
            <a:endParaRPr lang="en-ZA" dirty="0">
              <a:latin typeface="Calibri" panose="020F0502020204030204" pitchFamily="34" charset="0"/>
              <a:ea typeface="Times New Roman" panose="02020603050405020304" pitchFamily="18" charset="0"/>
              <a:cs typeface="Arial" panose="020B0604020202020204" pitchFamily="34" charset="0"/>
            </a:endParaRPr>
          </a:p>
        </p:txBody>
      </p:sp>
      <p:pic>
        <p:nvPicPr>
          <p:cNvPr id="3" name="Picture 2"/>
          <p:cNvPicPr/>
          <p:nvPr/>
        </p:nvPicPr>
        <p:blipFill>
          <a:blip r:embed="rId2" cstate="print">
            <a:extLst>
              <a:ext uri="{28A0092B-C50C-407E-A947-70E740481C1C}">
                <a14:useLocalDpi xmlns:a14="http://schemas.microsoft.com/office/drawing/2010/main" val="0"/>
              </a:ext>
            </a:extLst>
          </a:blip>
          <a:stretch>
            <a:fillRect/>
          </a:stretch>
        </p:blipFill>
        <p:spPr>
          <a:xfrm>
            <a:off x="9884664" y="67421"/>
            <a:ext cx="2307336" cy="618379"/>
          </a:xfrm>
          <a:prstGeom prst="rect">
            <a:avLst/>
          </a:prstGeom>
        </p:spPr>
      </p:pic>
      <p:pic>
        <p:nvPicPr>
          <p:cNvPr id="4"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431733" cy="10515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133088" y="448056"/>
            <a:ext cx="3895344" cy="461665"/>
          </a:xfrm>
          <a:prstGeom prst="rect">
            <a:avLst/>
          </a:prstGeom>
          <a:noFill/>
        </p:spPr>
        <p:txBody>
          <a:bodyPr wrap="square" rtlCol="0">
            <a:spAutoFit/>
          </a:bodyPr>
          <a:lstStyle/>
          <a:p>
            <a:pPr algn="ctr"/>
            <a:r>
              <a:rPr lang="en-ZA" sz="2400" b="1" dirty="0" smtClean="0">
                <a:solidFill>
                  <a:schemeClr val="accent5"/>
                </a:solidFill>
              </a:rPr>
              <a:t>Network Topology</a:t>
            </a:r>
            <a:endParaRPr lang="en-ZA" sz="2400" b="1" dirty="0">
              <a:solidFill>
                <a:schemeClr val="accent5"/>
              </a:solidFill>
            </a:endParaRPr>
          </a:p>
        </p:txBody>
      </p:sp>
    </p:spTree>
    <p:extLst>
      <p:ext uri="{BB962C8B-B14F-4D97-AF65-F5344CB8AC3E}">
        <p14:creationId xmlns:p14="http://schemas.microsoft.com/office/powerpoint/2010/main" val="26480971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279199979"/>
              </p:ext>
            </p:extLst>
          </p:nvPr>
        </p:nvGraphicFramePr>
        <p:xfrm>
          <a:off x="2053781" y="2499994"/>
          <a:ext cx="914400" cy="792163"/>
        </p:xfrm>
        <a:graphic>
          <a:graphicData uri="http://schemas.openxmlformats.org/presentationml/2006/ole">
            <mc:AlternateContent xmlns:mc="http://schemas.openxmlformats.org/markup-compatibility/2006">
              <mc:Choice xmlns:v="urn:schemas-microsoft-com:vml" Requires="v">
                <p:oleObj spid="_x0000_s4143" name="Document" showAsIcon="1" r:id="rId4" imgW="914400" imgH="792360" progId="Word.Document.12">
                  <p:embed/>
                </p:oleObj>
              </mc:Choice>
              <mc:Fallback>
                <p:oleObj name="Document" showAsIcon="1" r:id="rId4" imgW="914400" imgH="792360" progId="Word.Document.12">
                  <p:embed/>
                  <p:pic>
                    <p:nvPicPr>
                      <p:cNvPr id="0" name=""/>
                      <p:cNvPicPr/>
                      <p:nvPr/>
                    </p:nvPicPr>
                    <p:blipFill>
                      <a:blip r:embed="rId5"/>
                      <a:stretch>
                        <a:fillRect/>
                      </a:stretch>
                    </p:blipFill>
                    <p:spPr>
                      <a:xfrm>
                        <a:off x="2053781" y="2499994"/>
                        <a:ext cx="914400" cy="792163"/>
                      </a:xfrm>
                      <a:prstGeom prst="rect">
                        <a:avLst/>
                      </a:prstGeom>
                    </p:spPr>
                  </p:pic>
                </p:oleObj>
              </mc:Fallback>
            </mc:AlternateContent>
          </a:graphicData>
        </a:graphic>
      </p:graphicFrame>
      <p:sp>
        <p:nvSpPr>
          <p:cNvPr id="3" name="TextBox 2"/>
          <p:cNvSpPr txBox="1"/>
          <p:nvPr/>
        </p:nvSpPr>
        <p:spPr>
          <a:xfrm>
            <a:off x="1139952" y="1244432"/>
            <a:ext cx="7955280" cy="369332"/>
          </a:xfrm>
          <a:prstGeom prst="rect">
            <a:avLst/>
          </a:prstGeom>
          <a:noFill/>
        </p:spPr>
        <p:txBody>
          <a:bodyPr wrap="square" rtlCol="0">
            <a:spAutoFit/>
          </a:bodyPr>
          <a:lstStyle/>
          <a:p>
            <a:r>
              <a:rPr lang="en-ZA" b="1" dirty="0" smtClean="0">
                <a:solidFill>
                  <a:schemeClr val="accent5"/>
                </a:solidFill>
              </a:rPr>
              <a:t>Oracle Real Application Clusters – Technical Overview</a:t>
            </a:r>
            <a:endParaRPr lang="en-ZA" b="1" dirty="0">
              <a:solidFill>
                <a:schemeClr val="accent5"/>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998594012"/>
              </p:ext>
            </p:extLst>
          </p:nvPr>
        </p:nvGraphicFramePr>
        <p:xfrm>
          <a:off x="2072640" y="4998085"/>
          <a:ext cx="914400" cy="792163"/>
        </p:xfrm>
        <a:graphic>
          <a:graphicData uri="http://schemas.openxmlformats.org/presentationml/2006/ole">
            <mc:AlternateContent xmlns:mc="http://schemas.openxmlformats.org/markup-compatibility/2006">
              <mc:Choice xmlns:v="urn:schemas-microsoft-com:vml" Requires="v">
                <p:oleObj spid="_x0000_s4144" name="Worksheet" showAsIcon="1" r:id="rId7" imgW="914400" imgH="792360" progId="Excel.Sheet.12">
                  <p:embed/>
                </p:oleObj>
              </mc:Choice>
              <mc:Fallback>
                <p:oleObj name="Worksheet" showAsIcon="1" r:id="rId7" imgW="914400" imgH="792360" progId="Excel.Sheet.12">
                  <p:embed/>
                  <p:pic>
                    <p:nvPicPr>
                      <p:cNvPr id="0" name=""/>
                      <p:cNvPicPr/>
                      <p:nvPr/>
                    </p:nvPicPr>
                    <p:blipFill>
                      <a:blip r:embed="rId8"/>
                      <a:stretch>
                        <a:fillRect/>
                      </a:stretch>
                    </p:blipFill>
                    <p:spPr>
                      <a:xfrm>
                        <a:off x="2072640" y="4998085"/>
                        <a:ext cx="914400" cy="792163"/>
                      </a:xfrm>
                      <a:prstGeom prst="rect">
                        <a:avLst/>
                      </a:prstGeom>
                    </p:spPr>
                  </p:pic>
                </p:oleObj>
              </mc:Fallback>
            </mc:AlternateContent>
          </a:graphicData>
        </a:graphic>
      </p:graphicFrame>
      <p:sp>
        <p:nvSpPr>
          <p:cNvPr id="7" name="TextBox 6"/>
          <p:cNvSpPr txBox="1"/>
          <p:nvPr/>
        </p:nvSpPr>
        <p:spPr>
          <a:xfrm>
            <a:off x="1139952" y="3737689"/>
            <a:ext cx="7955280" cy="369332"/>
          </a:xfrm>
          <a:prstGeom prst="rect">
            <a:avLst/>
          </a:prstGeom>
          <a:noFill/>
        </p:spPr>
        <p:txBody>
          <a:bodyPr wrap="square" rtlCol="0">
            <a:spAutoFit/>
          </a:bodyPr>
          <a:lstStyle/>
          <a:p>
            <a:r>
              <a:rPr lang="en-ZA" b="1" dirty="0" smtClean="0">
                <a:solidFill>
                  <a:schemeClr val="accent5"/>
                </a:solidFill>
              </a:rPr>
              <a:t>Oracle 12c Comparison</a:t>
            </a:r>
            <a:endParaRPr lang="en-ZA" b="1" dirty="0">
              <a:solidFill>
                <a:schemeClr val="accent5"/>
              </a:solidFill>
            </a:endParaRPr>
          </a:p>
        </p:txBody>
      </p:sp>
      <p:pic>
        <p:nvPicPr>
          <p:cNvPr id="10" name="Picture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2431733" cy="10515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p:nvPr/>
        </p:nvPicPr>
        <p:blipFill>
          <a:blip r:embed="rId10" cstate="print">
            <a:extLst>
              <a:ext uri="{28A0092B-C50C-407E-A947-70E740481C1C}">
                <a14:useLocalDpi xmlns:a14="http://schemas.microsoft.com/office/drawing/2010/main" val="0"/>
              </a:ext>
            </a:extLst>
          </a:blip>
          <a:stretch>
            <a:fillRect/>
          </a:stretch>
        </p:blipFill>
        <p:spPr>
          <a:xfrm>
            <a:off x="9884664" y="67421"/>
            <a:ext cx="2307336" cy="618379"/>
          </a:xfrm>
          <a:prstGeom prst="rect">
            <a:avLst/>
          </a:prstGeom>
        </p:spPr>
      </p:pic>
    </p:spTree>
    <p:extLst>
      <p:ext uri="{BB962C8B-B14F-4D97-AF65-F5344CB8AC3E}">
        <p14:creationId xmlns:p14="http://schemas.microsoft.com/office/powerpoint/2010/main" val="2174551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96568" y="4160627"/>
            <a:ext cx="7955280" cy="369332"/>
          </a:xfrm>
          <a:prstGeom prst="rect">
            <a:avLst/>
          </a:prstGeom>
          <a:noFill/>
        </p:spPr>
        <p:txBody>
          <a:bodyPr wrap="square" rtlCol="0">
            <a:spAutoFit/>
          </a:bodyPr>
          <a:lstStyle/>
          <a:p>
            <a:r>
              <a:rPr lang="en-ZA" b="1" dirty="0" smtClean="0">
                <a:solidFill>
                  <a:schemeClr val="accent5"/>
                </a:solidFill>
              </a:rPr>
              <a:t>Analysis and Recommendations Report For Database CIS</a:t>
            </a:r>
            <a:endParaRPr lang="en-ZA" b="1" dirty="0">
              <a:solidFill>
                <a:schemeClr val="accent5"/>
              </a:solidFill>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1814463"/>
              </p:ext>
            </p:extLst>
          </p:nvPr>
        </p:nvGraphicFramePr>
        <p:xfrm>
          <a:off x="2038541" y="4751197"/>
          <a:ext cx="914400" cy="792163"/>
        </p:xfrm>
        <a:graphic>
          <a:graphicData uri="http://schemas.openxmlformats.org/presentationml/2006/ole">
            <mc:AlternateContent xmlns:mc="http://schemas.openxmlformats.org/markup-compatibility/2006">
              <mc:Choice xmlns:v="urn:schemas-microsoft-com:vml" Requires="v">
                <p:oleObj spid="_x0000_s5154" name="Document" showAsIcon="1" r:id="rId4" imgW="914400" imgH="792360" progId="Word.Document.12">
                  <p:embed/>
                </p:oleObj>
              </mc:Choice>
              <mc:Fallback>
                <p:oleObj name="Document" showAsIcon="1" r:id="rId4" imgW="914400" imgH="792360" progId="Word.Document.12">
                  <p:embed/>
                  <p:pic>
                    <p:nvPicPr>
                      <p:cNvPr id="0" name=""/>
                      <p:cNvPicPr/>
                      <p:nvPr/>
                    </p:nvPicPr>
                    <p:blipFill>
                      <a:blip r:embed="rId5"/>
                      <a:stretch>
                        <a:fillRect/>
                      </a:stretch>
                    </p:blipFill>
                    <p:spPr>
                      <a:xfrm>
                        <a:off x="2038541" y="4751197"/>
                        <a:ext cx="914400" cy="792163"/>
                      </a:xfrm>
                      <a:prstGeom prst="rect">
                        <a:avLst/>
                      </a:prstGeom>
                    </p:spPr>
                  </p:pic>
                </p:oleObj>
              </mc:Fallback>
            </mc:AlternateContent>
          </a:graphicData>
        </a:graphic>
      </p:graphicFrame>
      <p:pic>
        <p:nvPicPr>
          <p:cNvPr id="5"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431733" cy="105156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96568" y="1272798"/>
            <a:ext cx="7955280" cy="369332"/>
          </a:xfrm>
          <a:prstGeom prst="rect">
            <a:avLst/>
          </a:prstGeom>
          <a:noFill/>
        </p:spPr>
        <p:txBody>
          <a:bodyPr wrap="square" rtlCol="0">
            <a:spAutoFit/>
          </a:bodyPr>
          <a:lstStyle/>
          <a:p>
            <a:r>
              <a:rPr lang="en-ZA" b="1" dirty="0" smtClean="0">
                <a:solidFill>
                  <a:schemeClr val="accent5"/>
                </a:solidFill>
              </a:rPr>
              <a:t>RHEL_Whatsnewrhel7.3_Techoverview</a:t>
            </a:r>
          </a:p>
        </p:txBody>
      </p:sp>
      <p:graphicFrame>
        <p:nvGraphicFramePr>
          <p:cNvPr id="7" name="Object 6"/>
          <p:cNvGraphicFramePr>
            <a:graphicFrameLocks noChangeAspect="1"/>
          </p:cNvGraphicFramePr>
          <p:nvPr>
            <p:extLst>
              <p:ext uri="{D42A27DB-BD31-4B8C-83A1-F6EECF244321}">
                <p14:modId xmlns:p14="http://schemas.microsoft.com/office/powerpoint/2010/main" val="1568168973"/>
              </p:ext>
            </p:extLst>
          </p:nvPr>
        </p:nvGraphicFramePr>
        <p:xfrm>
          <a:off x="2038541" y="2337181"/>
          <a:ext cx="914400" cy="792163"/>
        </p:xfrm>
        <a:graphic>
          <a:graphicData uri="http://schemas.openxmlformats.org/presentationml/2006/ole">
            <mc:AlternateContent xmlns:mc="http://schemas.openxmlformats.org/markup-compatibility/2006">
              <mc:Choice xmlns:v="urn:schemas-microsoft-com:vml" Requires="v">
                <p:oleObj spid="_x0000_s5155" name="Document" showAsIcon="1" r:id="rId8" imgW="914400" imgH="792360" progId="Word.Document.12">
                  <p:embed/>
                </p:oleObj>
              </mc:Choice>
              <mc:Fallback>
                <p:oleObj name="Document" showAsIcon="1" r:id="rId8" imgW="914400" imgH="792360" progId="Word.Document.12">
                  <p:embed/>
                  <p:pic>
                    <p:nvPicPr>
                      <p:cNvPr id="0" name=""/>
                      <p:cNvPicPr/>
                      <p:nvPr/>
                    </p:nvPicPr>
                    <p:blipFill>
                      <a:blip r:embed="rId9"/>
                      <a:stretch>
                        <a:fillRect/>
                      </a:stretch>
                    </p:blipFill>
                    <p:spPr>
                      <a:xfrm>
                        <a:off x="2038541" y="2337181"/>
                        <a:ext cx="914400" cy="792163"/>
                      </a:xfrm>
                      <a:prstGeom prst="rect">
                        <a:avLst/>
                      </a:prstGeom>
                    </p:spPr>
                  </p:pic>
                </p:oleObj>
              </mc:Fallback>
            </mc:AlternateContent>
          </a:graphicData>
        </a:graphic>
      </p:graphicFrame>
      <p:pic>
        <p:nvPicPr>
          <p:cNvPr id="8" name="Picture 7"/>
          <p:cNvPicPr/>
          <p:nvPr/>
        </p:nvPicPr>
        <p:blipFill>
          <a:blip r:embed="rId10" cstate="print">
            <a:extLst>
              <a:ext uri="{28A0092B-C50C-407E-A947-70E740481C1C}">
                <a14:useLocalDpi xmlns:a14="http://schemas.microsoft.com/office/drawing/2010/main" val="0"/>
              </a:ext>
            </a:extLst>
          </a:blip>
          <a:stretch>
            <a:fillRect/>
          </a:stretch>
        </p:blipFill>
        <p:spPr>
          <a:xfrm>
            <a:off x="9884664" y="67421"/>
            <a:ext cx="2307336" cy="618379"/>
          </a:xfrm>
          <a:prstGeom prst="rect">
            <a:avLst/>
          </a:prstGeom>
        </p:spPr>
      </p:pic>
    </p:spTree>
    <p:extLst>
      <p:ext uri="{BB962C8B-B14F-4D97-AF65-F5344CB8AC3E}">
        <p14:creationId xmlns:p14="http://schemas.microsoft.com/office/powerpoint/2010/main" val="1236034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9973" y="1148553"/>
            <a:ext cx="5730875" cy="6583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0" y="25545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sp>
        <p:nvSpPr>
          <p:cNvPr id="5" name="Rectangle 4"/>
          <p:cNvSpPr/>
          <p:nvPr/>
        </p:nvSpPr>
        <p:spPr>
          <a:xfrm>
            <a:off x="2865437" y="288594"/>
            <a:ext cx="6096000" cy="646331"/>
          </a:xfrm>
          <a:prstGeom prst="rect">
            <a:avLst/>
          </a:prstGeom>
        </p:spPr>
        <p:txBody>
          <a:bodyPr>
            <a:spAutoFit/>
          </a:bodyPr>
          <a:lstStyle/>
          <a:p>
            <a:pPr lvl="0" algn="ctr" eaLnBrk="0" fontAlgn="base" hangingPunct="0">
              <a:spcBef>
                <a:spcPct val="0"/>
              </a:spcBef>
              <a:spcAft>
                <a:spcPct val="0"/>
              </a:spcAft>
            </a:pPr>
            <a:r>
              <a:rPr kumimoji="0" lang="en-ZA"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ZA" altLang="en-US" b="1" i="0" u="sng"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ZFS APPLIANCE STORAGE</a:t>
            </a:r>
          </a:p>
          <a:p>
            <a:pPr lvl="0" algn="ctr" eaLnBrk="0" fontAlgn="base" hangingPunct="0">
              <a:spcBef>
                <a:spcPct val="0"/>
              </a:spcBef>
              <a:spcAft>
                <a:spcPct val="0"/>
              </a:spcAft>
            </a:pPr>
            <a:r>
              <a:rPr kumimoji="0" lang="en-ZA"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ZFS Cluster</a:t>
            </a:r>
            <a:endParaRPr lang="en-ZA" dirty="0"/>
          </a:p>
        </p:txBody>
      </p:sp>
      <p:pic>
        <p:nvPicPr>
          <p:cNvPr id="7" name="Picture 6"/>
          <p:cNvPicPr/>
          <p:nvPr/>
        </p:nvPicPr>
        <p:blipFill>
          <a:blip r:embed="rId3"/>
          <a:stretch>
            <a:fillRect/>
          </a:stretch>
        </p:blipFill>
        <p:spPr>
          <a:xfrm>
            <a:off x="3339973" y="2011730"/>
            <a:ext cx="5731510" cy="4650613"/>
          </a:xfrm>
          <a:prstGeom prst="rect">
            <a:avLst/>
          </a:prstGeom>
        </p:spPr>
      </p:pic>
      <p:pic>
        <p:nvPicPr>
          <p:cNvPr id="8"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431733" cy="10515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p:nvPr/>
        </p:nvPicPr>
        <p:blipFill>
          <a:blip r:embed="rId5" cstate="print">
            <a:extLst>
              <a:ext uri="{28A0092B-C50C-407E-A947-70E740481C1C}">
                <a14:useLocalDpi xmlns:a14="http://schemas.microsoft.com/office/drawing/2010/main" val="0"/>
              </a:ext>
            </a:extLst>
          </a:blip>
          <a:stretch>
            <a:fillRect/>
          </a:stretch>
        </p:blipFill>
        <p:spPr>
          <a:xfrm>
            <a:off x="9884664" y="67421"/>
            <a:ext cx="2307336" cy="618379"/>
          </a:xfrm>
          <a:prstGeom prst="rect">
            <a:avLst/>
          </a:prstGeom>
        </p:spPr>
      </p:pic>
    </p:spTree>
    <p:extLst>
      <p:ext uri="{BB962C8B-B14F-4D97-AF65-F5344CB8AC3E}">
        <p14:creationId xmlns:p14="http://schemas.microsoft.com/office/powerpoint/2010/main" val="3403878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293</Words>
  <Application>Microsoft Office PowerPoint</Application>
  <PresentationFormat>Widescreen</PresentationFormat>
  <Paragraphs>18</Paragraphs>
  <Slides>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8</vt:i4>
      </vt:variant>
    </vt:vector>
  </HeadingPairs>
  <TitlesOfParts>
    <vt:vector size="15" baseType="lpstr">
      <vt:lpstr>Arial</vt:lpstr>
      <vt:lpstr>Calibri</vt:lpstr>
      <vt:lpstr>Calibri Light</vt:lpstr>
      <vt:lpstr>Times New Roman</vt:lpstr>
      <vt:lpstr>Office Theme</vt:lpstr>
      <vt:lpstr>Document</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Ganeshan</dc:creator>
  <cp:lastModifiedBy>Mahesh Ganeshan</cp:lastModifiedBy>
  <cp:revision>33</cp:revision>
  <dcterms:created xsi:type="dcterms:W3CDTF">2018-10-10T22:21:00Z</dcterms:created>
  <dcterms:modified xsi:type="dcterms:W3CDTF">2018-10-11T06:52:47Z</dcterms:modified>
</cp:coreProperties>
</file>